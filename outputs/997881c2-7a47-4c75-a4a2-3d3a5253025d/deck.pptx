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A6F97"/>
          </a:solidFill>
          <a:ln w="12700">
            <a:solidFill>
              <a:srgbClr val="2A6F9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A6F97"/>
                </a:solidFill>
              </a:rPr>
              <a:t>浪潮数字 · 中文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85800" y="1508760"/>
            <a:ext cx="98755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172033"/>
                </a:solidFill>
              </a:rPr>
              <a:t>浪潮海岳大模型：驱动企业数智化转型的新引擎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713232" y="2907792"/>
            <a:ext cx="8778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4D5B6C"/>
                </a:solidFill>
              </a:rPr>
              <a:t>赋能业务创新，重塑管理价值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13232" y="5806440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D5B6C"/>
                </a:solidFill>
              </a:rPr>
              <a:t>客户中层  |  企业咨询汇报  |  LC_ppt_skill-main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A6F97"/>
                </a:solidFill>
              </a:rPr>
              <a:t>浪潮数字 · 01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658368" y="749808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</a:rPr>
              <a:t>浪潮海岳大模型：驱动企业数智化转型的新引擎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85800" y="1481328"/>
            <a:ext cx="9509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4D5B6C"/>
                </a:solidFill>
              </a:rPr>
              <a:t>明确汇报主题，建立专业、科技的第一印象，定调企业级AI的战略价值。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68680" y="2121408"/>
            <a:ext cx="8869680" cy="2468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>
              <a:spcAft>
                <a:spcPts val="1000"/>
              </a:spcAft>
            </a:pPr>
            <a:r>
              <a:rPr lang="en-US" sz="1600" dirty="0">
                <a:solidFill>
                  <a:srgbClr val="172033"/>
                </a:solidFill>
              </a:rPr>
              <a:t>主标题：浪潮海岳大模型：驱动企业数智化转型的新引擎</a:t>
            </a:r>
            <a:endParaRPr lang="en-US" sz="1600" dirty="0"/>
          </a:p>
          <a:p>
            <a:pPr>
              <a:spcAft>
                <a:spcPts val="1000"/>
              </a:spcAft>
            </a:pPr>
            <a:r>
              <a:rPr lang="en-US" sz="1600" dirty="0">
                <a:solidFill>
                  <a:srgbClr val="172033"/>
                </a:solidFill>
              </a:rPr>
              <a:t>副标题：赋能业务创新，重塑管理价值</a:t>
            </a:r>
            <a:endParaRPr lang="en-US" sz="1600" dirty="0"/>
          </a:p>
          <a:p>
            <a:pPr>
              <a:spcAft>
                <a:spcPts val="1000"/>
              </a:spcAft>
            </a:pPr>
            <a:r>
              <a:rPr lang="en-US" sz="1600" dirty="0">
                <a:solidFill>
                  <a:srgbClr val="172033"/>
                </a:solidFill>
              </a:rPr>
              <a:t>汇报对象：企业管理层与业务决策者</a:t>
            </a:r>
            <a:endParaRPr lang="en-US" sz="1600" dirty="0"/>
          </a:p>
          <a:p>
            <a:pPr>
              <a:spcAft>
                <a:spcPts val="1000"/>
              </a:spcAft>
            </a:pPr>
            <a:r>
              <a:rPr lang="en-US" sz="1600" dirty="0">
                <a:solidFill>
                  <a:srgbClr val="172033"/>
                </a:solidFill>
              </a:rPr>
              <a:t>汇报单位：浪潮数字企业科技有限公司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85800" y="5212080"/>
            <a:ext cx="9784080" cy="594360"/>
          </a:xfrm>
          <a:prstGeom prst="rect">
            <a:avLst>
              <a:gd name="adj" fmla="val 12308"/>
            </a:avLst>
          </a:prstGeom>
          <a:solidFill>
            <a:srgbClr val="F1F6F8"/>
          </a:solidFill>
          <a:ln w="12700">
            <a:solidFill>
              <a:srgbClr val="D5E2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5394960"/>
            <a:ext cx="9326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4D5B6C"/>
                </a:solidFill>
              </a:rPr>
              <a:t>深蓝底色（#0D48CE），浪潮标准科技风。居中排版，背景使用抽象的AI神经网络或数据流光（亮蓝#1D78FA与青绿#00A0A0点缀）。主标题使用微软雅黑加粗，白色字体，副标题使用浅灰色。底部放置浪潮数字企业Logo。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A6F97"/>
                </a:solidFill>
              </a:rPr>
              <a:t>浪潮数字 · 02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658368" y="749808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</a:rPr>
              <a:t>汇报目录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85800" y="1481328"/>
            <a:ext cx="9509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4D5B6C"/>
                </a:solidFill>
              </a:rPr>
              <a:t>展示整体逻辑框架，引导受众预期，体现咨询汇报的严谨性与结构感。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68680" y="2121408"/>
            <a:ext cx="8869680" cy="2468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>
              <a:spcAft>
                <a:spcPts val="1000"/>
              </a:spcAft>
            </a:pPr>
            <a:r>
              <a:rPr lang="en-US" sz="1600" dirty="0">
                <a:solidFill>
                  <a:srgbClr val="172033"/>
                </a:solidFill>
              </a:rPr>
              <a:t>01 时代背景：企业数智化转型的痛点与破局</a:t>
            </a:r>
            <a:endParaRPr lang="en-US" sz="1600" dirty="0"/>
          </a:p>
          <a:p>
            <a:pPr>
              <a:spcAft>
                <a:spcPts val="1000"/>
              </a:spcAft>
            </a:pPr>
            <a:r>
              <a:rPr lang="en-US" sz="1600" dirty="0">
                <a:solidFill>
                  <a:srgbClr val="172033"/>
                </a:solidFill>
              </a:rPr>
              <a:t>02 核心引擎：浪潮海岳大模型架构与能力</a:t>
            </a:r>
            <a:endParaRPr lang="en-US" sz="1600" dirty="0"/>
          </a:p>
          <a:p>
            <a:pPr>
              <a:spcAft>
                <a:spcPts val="1000"/>
              </a:spcAft>
            </a:pPr>
            <a:r>
              <a:rPr lang="en-US" sz="1600" dirty="0">
                <a:solidFill>
                  <a:srgbClr val="172033"/>
                </a:solidFill>
              </a:rPr>
              <a:t>03 场景赋能：大模型驱动的业务与管理创新</a:t>
            </a:r>
            <a:endParaRPr lang="en-US" sz="1600" dirty="0"/>
          </a:p>
          <a:p>
            <a:pPr>
              <a:spcAft>
                <a:spcPts val="1000"/>
              </a:spcAft>
            </a:pPr>
            <a:r>
              <a:rPr lang="en-US" sz="1600" dirty="0">
                <a:solidFill>
                  <a:srgbClr val="172033"/>
                </a:solidFill>
              </a:rPr>
              <a:t>04 价值落地：实施路径与核心竞争优势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85800" y="5212080"/>
            <a:ext cx="9784080" cy="594360"/>
          </a:xfrm>
          <a:prstGeom prst="rect">
            <a:avLst>
              <a:gd name="adj" fmla="val 12308"/>
            </a:avLst>
          </a:prstGeom>
          <a:solidFill>
            <a:srgbClr val="F1F6F8"/>
          </a:solidFill>
          <a:ln w="12700">
            <a:solidFill>
              <a:srgbClr val="D5E2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5394960"/>
            <a:ext cx="9326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4D5B6C"/>
                </a:solidFill>
              </a:rPr>
              <a:t>白底蓝字。左侧使用大数字编号（01-04，字体Arial，亮蓝#1D78FA），右侧对应章节标题（微软雅黑，深灰）。排版清爽，信息密度适中。右侧可配一个极简的上升阶梯或科技线条图形，体现演进逻辑。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A6F97"/>
                </a:solidFill>
              </a:rPr>
              <a:t>浪潮数字 · 03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658368" y="749808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</a:rPr>
              <a:t>企业数智化转型的深水区挑战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85800" y="1481328"/>
            <a:ext cx="9509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4D5B6C"/>
                </a:solidFill>
              </a:rPr>
              <a:t>引发共鸣，指出传统信息化向智能化跃升的瓶颈，为引入大模型做铺垫（逻辑：痛点-&gt;需求-&gt;方案）。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68680" y="2121408"/>
            <a:ext cx="8869680" cy="2468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>
              <a:spcAft>
                <a:spcPts val="1000"/>
              </a:spcAft>
            </a:pPr>
            <a:r>
              <a:rPr lang="en-US" sz="1600" dirty="0">
                <a:solidFill>
                  <a:srgbClr val="172033"/>
                </a:solidFill>
              </a:rPr>
              <a:t>数据孤岛与知识断层：超80%非结构化数据沉睡，企业隐性知识难以有效传承与复用。</a:t>
            </a:r>
            <a:endParaRPr lang="en-US" sz="1600" dirty="0"/>
          </a:p>
          <a:p>
            <a:pPr>
              <a:spcAft>
                <a:spcPts val="1000"/>
              </a:spcAft>
            </a:pPr>
            <a:r>
              <a:rPr lang="en-US" sz="1600" dirty="0">
                <a:solidFill>
                  <a:srgbClr val="172033"/>
                </a:solidFill>
              </a:rPr>
              <a:t>决策滞后与响应迟缓：传统BI仅支持“看数据”，缺乏实时、交互式的智能预测与归因分析。</a:t>
            </a:r>
            <a:endParaRPr lang="en-US" sz="1600" dirty="0"/>
          </a:p>
          <a:p>
            <a:pPr>
              <a:spcAft>
                <a:spcPts val="1000"/>
              </a:spcAft>
            </a:pPr>
            <a:r>
              <a:rPr lang="en-US" sz="1600" dirty="0">
                <a:solidFill>
                  <a:srgbClr val="172033"/>
                </a:solidFill>
              </a:rPr>
              <a:t>系统僵化与体验割裂：多系统切换繁琐，缺乏自然语言驱动的统一智能工作入口（Copilot）。</a:t>
            </a:r>
            <a:endParaRPr lang="en-US" sz="1600" dirty="0"/>
          </a:p>
          <a:p>
            <a:pPr>
              <a:spcAft>
                <a:spcPts val="1000"/>
              </a:spcAft>
            </a:pPr>
            <a:r>
              <a:rPr lang="en-US" sz="1600" dirty="0">
                <a:solidFill>
                  <a:srgbClr val="172033"/>
                </a:solidFill>
              </a:rPr>
              <a:t>通用模型落地“水土不服”：公有云模型存在数据泄露风险，且缺乏行业Know-how，难以深入核心业务流。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85800" y="5212080"/>
            <a:ext cx="9784080" cy="594360"/>
          </a:xfrm>
          <a:prstGeom prst="rect">
            <a:avLst>
              <a:gd name="adj" fmla="val 12308"/>
            </a:avLst>
          </a:prstGeom>
          <a:solidFill>
            <a:srgbClr val="F1F6F8"/>
          </a:solidFill>
          <a:ln w="12700">
            <a:solidFill>
              <a:srgbClr val="D5E2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5394960"/>
            <a:ext cx="9326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4D5B6C"/>
                </a:solidFill>
              </a:rPr>
              <a:t>左右图文排版。左侧提炼4个痛点指标卡（带警示橙#FF6A00图标），突出“80%”、“滞后”等关键词；右侧配以数据流转受阻的抽象漏斗或断裂的链条图形。色调以深蓝和警示橙为主，形成视觉冲击。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A6F97"/>
                </a:solidFill>
              </a:rPr>
              <a:t>浪潮数字 · 04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658368" y="749808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</a:rPr>
              <a:t>浪潮海岳大模型：懂行业、懂企业的智能基座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85800" y="1481328"/>
            <a:ext cx="9509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4D5B6C"/>
                </a:solidFill>
              </a:rPr>
              <a:t>展示海岳大模型的技术架构与核心能力，建立技术信任（逻辑：底层支撑-&gt;核心引擎-&gt;上层应用）。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68680" y="2121408"/>
            <a:ext cx="8869680" cy="2468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>
              <a:spcAft>
                <a:spcPts val="1000"/>
              </a:spcAft>
            </a:pPr>
            <a:r>
              <a:rPr lang="en-US" sz="1600" dirty="0">
                <a:solidFill>
                  <a:srgbClr val="172033"/>
                </a:solidFill>
              </a:rPr>
              <a:t>坚实算力与数据底座：依托浪潮智算中心，融合企业私域高质量数据与超百亿级行业语料库。</a:t>
            </a:r>
            <a:endParaRPr lang="en-US" sz="1600" dirty="0"/>
          </a:p>
          <a:p>
            <a:pPr>
              <a:spcAft>
                <a:spcPts val="1000"/>
              </a:spcAft>
            </a:pPr>
            <a:r>
              <a:rPr lang="en-US" sz="1600" dirty="0">
                <a:solidFill>
                  <a:srgbClr val="172033"/>
                </a:solidFill>
              </a:rPr>
              <a:t>“1+N”双引擎架构：采用“1个通用基础大模型 + N个行业/企业专属大模型”混合架构，兼顾泛化与专业。</a:t>
            </a:r>
            <a:endParaRPr lang="en-US" sz="1600" dirty="0"/>
          </a:p>
          <a:p>
            <a:pPr>
              <a:spcAft>
                <a:spcPts val="1000"/>
              </a:spcAft>
            </a:pPr>
            <a:r>
              <a:rPr lang="en-US" sz="1600" dirty="0">
                <a:solidFill>
                  <a:srgbClr val="172033"/>
                </a:solidFill>
              </a:rPr>
              <a:t>全链路AI工具链（MaaS）：提供数据清洗、模型微调（SFT/RLHF）到Agent智能体编排的一站式平台。</a:t>
            </a:r>
            <a:endParaRPr lang="en-US" sz="1600" dirty="0"/>
          </a:p>
          <a:p>
            <a:pPr>
              <a:spcAft>
                <a:spcPts val="1000"/>
              </a:spcAft>
            </a:pPr>
            <a:r>
              <a:rPr lang="en-US" sz="1600" dirty="0">
                <a:solidFill>
                  <a:srgbClr val="172033"/>
                </a:solidFill>
              </a:rPr>
              <a:t>企业级安全合规保障：支持私有化/混合云部署，内置数据脱敏与细粒度权限管控，核心资产不出域。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85800" y="5212080"/>
            <a:ext cx="9784080" cy="594360"/>
          </a:xfrm>
          <a:prstGeom prst="rect">
            <a:avLst>
              <a:gd name="adj" fmla="val 12308"/>
            </a:avLst>
          </a:prstGeom>
          <a:solidFill>
            <a:srgbClr val="F1F6F8"/>
          </a:solidFill>
          <a:ln w="12700">
            <a:solidFill>
              <a:srgbClr val="D5E2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5394960"/>
            <a:ext cx="9326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4D5B6C"/>
                </a:solidFill>
              </a:rPr>
              <a:t>居中展示分层架构图（算力层、数据层、模型层、工具链层、应用层）。使用亮蓝（#1D78FA）和青绿（#00A0A0）渐变色块区分层级，体现架构的稳固与先进性。关键数据（如“百亿级”、“1+N”）加粗放大。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A6F97"/>
                </a:solidFill>
              </a:rPr>
              <a:t>浪潮数字 · 05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658368" y="749808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</a:rPr>
              <a:t>核心场景：全面重塑业务运营与管理决策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85800" y="1481328"/>
            <a:ext cx="9509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4D5B6C"/>
                </a:solidFill>
              </a:rPr>
              <a:t>结合客户中层关注的业务价值，展示具体落地场景，证明大模型能解决实际业务问题。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68680" y="2121408"/>
            <a:ext cx="8869680" cy="2468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>
              <a:spcAft>
                <a:spcPts val="1000"/>
              </a:spcAft>
            </a:pPr>
            <a:r>
              <a:rPr lang="en-US" sz="1600" dirty="0">
                <a:solidFill>
                  <a:srgbClr val="172033"/>
                </a:solidFill>
              </a:rPr>
              <a:t>智能财务与风控：凭证自动生成率达90%+，智能合规审查与资金风险实时预警，财务运营效率提升30%。</a:t>
            </a:r>
            <a:endParaRPr lang="en-US" sz="1600" dirty="0"/>
          </a:p>
          <a:p>
            <a:pPr>
              <a:spcAft>
                <a:spcPts val="1000"/>
              </a:spcAft>
            </a:pPr>
            <a:r>
              <a:rPr lang="en-US" sz="1600" dirty="0">
                <a:solidFill>
                  <a:srgbClr val="172033"/>
                </a:solidFill>
              </a:rPr>
              <a:t>敏捷供应链协同：基于大模型进行需求精准预测与智能排产，库存周转率提升15%，打造韧性供应链。</a:t>
            </a:r>
            <a:endParaRPr lang="en-US" sz="1600" dirty="0"/>
          </a:p>
          <a:p>
            <a:pPr>
              <a:spcAft>
                <a:spcPts val="1000"/>
              </a:spcAft>
            </a:pPr>
            <a:r>
              <a:rPr lang="en-US" sz="1600" dirty="0">
                <a:solidFill>
                  <a:srgbClr val="172033"/>
                </a:solidFill>
              </a:rPr>
              <a:t>智能HR与知识管理：打造企业专属AI知识助手，制度秒级问答准确率95%+，智能简历解析与员工培训。</a:t>
            </a:r>
            <a:endParaRPr lang="en-US" sz="1600" dirty="0"/>
          </a:p>
          <a:p>
            <a:pPr>
              <a:spcAft>
                <a:spcPts val="1000"/>
              </a:spcAft>
            </a:pPr>
            <a:r>
              <a:rPr lang="en-US" sz="1600" dirty="0">
                <a:solidFill>
                  <a:srgbClr val="172033"/>
                </a:solidFill>
              </a:rPr>
              <a:t>管理驾驶舱升级（ChatBI）：从“看报表”到“问数据”，支持自然语言交互式BI，高管决策响应时间缩短至分钟级。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85800" y="5212080"/>
            <a:ext cx="9784080" cy="594360"/>
          </a:xfrm>
          <a:prstGeom prst="rect">
            <a:avLst>
              <a:gd name="adj" fmla="val 12308"/>
            </a:avLst>
          </a:prstGeom>
          <a:solidFill>
            <a:srgbClr val="F1F6F8"/>
          </a:solidFill>
          <a:ln w="12700">
            <a:solidFill>
              <a:srgbClr val="D5E2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5394960"/>
            <a:ext cx="9326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4D5B6C"/>
                </a:solidFill>
              </a:rPr>
              <a:t>四列能力卡片布局（2x2或1x4）。每列包含场景图标（青绿/亮蓝）、场景名称和核心收益数据（如“90%+”、“15%”用大字号亮色突出）。背景使用浅灰白（#F5F7FA），卡片带微投影，突出业务价值。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A6F97"/>
                </a:solidFill>
              </a:rPr>
              <a:t>浪潮数字 · 06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658368" y="749808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</a:rPr>
              <a:t>为什么选择浪潮海岳？核心竞争优势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85800" y="1481328"/>
            <a:ext cx="9509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4D5B6C"/>
                </a:solidFill>
              </a:rPr>
              <a:t>对比竞品或通用方案，强化选择浪潮的必然性，打消客户对厂商能力的顾虑。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68680" y="2121408"/>
            <a:ext cx="8869680" cy="2468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>
              <a:spcAft>
                <a:spcPts val="1000"/>
              </a:spcAft>
            </a:pPr>
            <a:r>
              <a:rPr lang="en-US" sz="1600" dirty="0">
                <a:solidFill>
                  <a:srgbClr val="172033"/>
                </a:solidFill>
              </a:rPr>
              <a:t>深厚的行业Know-how：沉淀浪潮在制造、能源、粮食等行业的数十年数字化经验，模型更懂业务逻辑。</a:t>
            </a:r>
            <a:endParaRPr lang="en-US" sz="1600" dirty="0"/>
          </a:p>
          <a:p>
            <a:pPr>
              <a:spcAft>
                <a:spcPts val="1000"/>
              </a:spcAft>
            </a:pPr>
            <a:r>
              <a:rPr lang="en-US" sz="1600" dirty="0">
                <a:solidFill>
                  <a:srgbClr val="172033"/>
                </a:solidFill>
              </a:rPr>
              <a:t>云网边端一体化能力：不仅提供模型，更提供从底层智算算力到上层应用的全栈软硬一体化交付能力。</a:t>
            </a:r>
            <a:endParaRPr lang="en-US" sz="1600" dirty="0"/>
          </a:p>
          <a:p>
            <a:pPr>
              <a:spcAft>
                <a:spcPts val="1000"/>
              </a:spcAft>
            </a:pPr>
            <a:r>
              <a:rPr lang="en-US" sz="1600" dirty="0">
                <a:solidFill>
                  <a:srgbClr val="172033"/>
                </a:solidFill>
              </a:rPr>
              <a:t>平滑演进与生态兼容：无缝集成海岳ERP及主流企业级应用，保护企业既有IT投资，API集成成本降低50%。</a:t>
            </a:r>
            <a:endParaRPr lang="en-US" sz="1600" dirty="0"/>
          </a:p>
          <a:p>
            <a:pPr>
              <a:spcAft>
                <a:spcPts val="1000"/>
              </a:spcAft>
            </a:pPr>
            <a:r>
              <a:rPr lang="en-US" sz="1600" dirty="0">
                <a:solidFill>
                  <a:srgbClr val="172033"/>
                </a:solidFill>
              </a:rPr>
              <a:t>陪伴式专家服务：提供从业务咨询、场景共创到模型调优的端到端专家服务，确保大模型“真用、好用”。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85800" y="5212080"/>
            <a:ext cx="9784080" cy="594360"/>
          </a:xfrm>
          <a:prstGeom prst="rect">
            <a:avLst>
              <a:gd name="adj" fmla="val 12308"/>
            </a:avLst>
          </a:prstGeom>
          <a:solidFill>
            <a:srgbClr val="F1F6F8"/>
          </a:solidFill>
          <a:ln w="12700">
            <a:solidFill>
              <a:srgbClr val="D5E2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5394960"/>
            <a:ext cx="9326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4D5B6C"/>
                </a:solidFill>
              </a:rPr>
              <a:t>采用雷达图或四象限对比矩阵形式。突出浪潮在“行业深度、全栈能力、生态兼容、服务保障”四个维度的领先优势。主色调为深蓝，对比项使用浅灰色，浪潮优势项使用亮蓝填充，形成鲜明对比。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A6F97"/>
                </a:solidFill>
              </a:rPr>
              <a:t>浪潮数字 · 07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658368" y="749808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</a:rPr>
              <a:t>稳健落地：企业大模型应用实施路径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85800" y="1481328"/>
            <a:ext cx="9509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4D5B6C"/>
                </a:solidFill>
              </a:rPr>
              <a:t>打消中层管理者对落地风险的顾虑，展示科学的方法论，强调“小步快跑、价值验证”。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68680" y="2121408"/>
            <a:ext cx="8869680" cy="2468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>
              <a:spcAft>
                <a:spcPts val="1000"/>
              </a:spcAft>
            </a:pPr>
            <a:r>
              <a:rPr lang="en-US" sz="1600" dirty="0">
                <a:solidFill>
                  <a:srgbClr val="172033"/>
                </a:solidFill>
              </a:rPr>
              <a:t>阶段一：场景共创与试点（1-2个月）：聚焦高频痛点（如智能问答、ChatBI），快速验证价值，实现“速赢”。</a:t>
            </a:r>
            <a:endParaRPr lang="en-US" sz="1600" dirty="0"/>
          </a:p>
          <a:p>
            <a:pPr>
              <a:spcAft>
                <a:spcPts val="1000"/>
              </a:spcAft>
            </a:pPr>
            <a:r>
              <a:rPr lang="en-US" sz="1600" dirty="0">
                <a:solidFill>
                  <a:srgbClr val="172033"/>
                </a:solidFill>
              </a:rPr>
              <a:t>阶段二：私域数据融合与微调（3-4个月）：接入企业核心业务数据，训练专属模型，深化核心业务应用。</a:t>
            </a:r>
            <a:endParaRPr lang="en-US" sz="1600" dirty="0"/>
          </a:p>
          <a:p>
            <a:pPr>
              <a:spcAft>
                <a:spcPts val="1000"/>
              </a:spcAft>
            </a:pPr>
            <a:r>
              <a:rPr lang="en-US" sz="1600" dirty="0">
                <a:solidFill>
                  <a:srgbClr val="172033"/>
                </a:solidFill>
              </a:rPr>
              <a:t>阶段三：全面推广与Agent生态（5-6个月）：构建多智能体协同网络，实现跨部门复杂流程自动化与智能化。</a:t>
            </a:r>
            <a:endParaRPr lang="en-US" sz="1600" dirty="0"/>
          </a:p>
          <a:p>
            <a:pPr>
              <a:spcAft>
                <a:spcPts val="1000"/>
              </a:spcAft>
            </a:pPr>
            <a:r>
              <a:rPr lang="en-US" sz="1600" dirty="0">
                <a:solidFill>
                  <a:srgbClr val="172033"/>
                </a:solidFill>
              </a:rPr>
              <a:t>持续运营与迭代（长效机制）：建立企业AI运营机制，基于用户反馈与业务变化，持续优化模型效果与知识库。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85800" y="5212080"/>
            <a:ext cx="9784080" cy="594360"/>
          </a:xfrm>
          <a:prstGeom prst="rect">
            <a:avLst>
              <a:gd name="adj" fmla="val 12308"/>
            </a:avLst>
          </a:prstGeom>
          <a:solidFill>
            <a:srgbClr val="F1F6F8"/>
          </a:solidFill>
          <a:ln w="12700">
            <a:solidFill>
              <a:srgbClr val="D5E2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5394960"/>
            <a:ext cx="9326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4D5B6C"/>
                </a:solidFill>
              </a:rPr>
              <a:t>横向时间轴或阶梯式流程图（从左至右或从下至上）。清晰标注每个阶段的关键里程碑和交付物。使用亮蓝色（#1D78FA）箭头引导视觉流向，每个阶段节点使用青绿色（#00A0A0）圆点，体现稳步推进的节奏感。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A6F97"/>
                </a:solidFill>
              </a:rPr>
              <a:t>浪潮数字 · 08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658368" y="749808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</a:rPr>
              <a:t>携手浪潮，共启企业智能化新纪元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85800" y="1481328"/>
            <a:ext cx="9509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4D5B6C"/>
                </a:solidFill>
              </a:rPr>
              <a:t>总结核心价值，呼吁行动，圆满收束，推动项目进入实质性POC阶段。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68680" y="2121408"/>
            <a:ext cx="8869680" cy="2468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>
              <a:spcAft>
                <a:spcPts val="1000"/>
              </a:spcAft>
            </a:pPr>
            <a:r>
              <a:rPr lang="en-US" sz="1600" dirty="0">
                <a:solidFill>
                  <a:srgbClr val="172033"/>
                </a:solidFill>
              </a:rPr>
              <a:t>核心价值重申：浪潮海岳大模型不仅是技术工具，更是驱动企业业务增长与管理变革的核心引擎。</a:t>
            </a:r>
            <a:endParaRPr lang="en-US" sz="1600" dirty="0"/>
          </a:p>
          <a:p>
            <a:pPr>
              <a:spcAft>
                <a:spcPts val="1000"/>
              </a:spcAft>
            </a:pPr>
            <a:r>
              <a:rPr lang="en-US" sz="1600" dirty="0">
                <a:solidFill>
                  <a:srgbClr val="172033"/>
                </a:solidFill>
              </a:rPr>
              <a:t>下一步行动建议：建议双方成立联合创新小组，选取1-2个高价值场景（如ChatBI或智能风控）启动POC测试。</a:t>
            </a:r>
            <a:endParaRPr lang="en-US" sz="1600" dirty="0"/>
          </a:p>
          <a:p>
            <a:pPr>
              <a:spcAft>
                <a:spcPts val="1000"/>
              </a:spcAft>
            </a:pPr>
            <a:r>
              <a:rPr lang="en-US" sz="1600" dirty="0">
                <a:solidFill>
                  <a:srgbClr val="172033"/>
                </a:solidFill>
              </a:rPr>
              <a:t>资源保障承诺：浪潮将投入专属行业专家与AI算法团队，提供算力与算法双重保障，为项目成功保驾护航。</a:t>
            </a:r>
            <a:endParaRPr lang="en-US" sz="1600" dirty="0"/>
          </a:p>
          <a:p>
            <a:pPr>
              <a:spcAft>
                <a:spcPts val="1000"/>
              </a:spcAft>
            </a:pPr>
            <a:r>
              <a:rPr lang="en-US" sz="1600" dirty="0">
                <a:solidFill>
                  <a:srgbClr val="172033"/>
                </a:solidFill>
              </a:rPr>
              <a:t>愿景展望：让AI成为每位员工的超级助手，让数据成为企业最核心的生产力。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85800" y="5212080"/>
            <a:ext cx="9784080" cy="594360"/>
          </a:xfrm>
          <a:prstGeom prst="rect">
            <a:avLst>
              <a:gd name="adj" fmla="val 12308"/>
            </a:avLst>
          </a:prstGeom>
          <a:solidFill>
            <a:srgbClr val="F1F6F8"/>
          </a:solidFill>
          <a:ln w="12700">
            <a:solidFill>
              <a:srgbClr val="D5E2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5394960"/>
            <a:ext cx="9326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4D5B6C"/>
                </a:solidFill>
              </a:rPr>
              <a:t>深蓝底色（#0D48CE），居中大字号总结金句（白色微软雅黑），下方配以“下一步行动建议”的亮色卡片（白底蓝字）。底部留出联系方式、二维码与Q&amp;A提示。整体大气、收束感强，留有互动空间。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浪潮数字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浪潮海岳大模型：驱动企业数智化转型的新引擎</dc:title>
  <dc:subject>浪潮海岳大模型</dc:subject>
  <dc:creator>PPT Skill Workspace</dc:creator>
  <cp:lastModifiedBy>PPT Skill Workspace</cp:lastModifiedBy>
  <cp:revision>1</cp:revision>
  <dcterms:created xsi:type="dcterms:W3CDTF">2026-06-17T09:12:37Z</dcterms:created>
  <dcterms:modified xsi:type="dcterms:W3CDTF">2026-06-17T09:12:37Z</dcterms:modified>
</cp:coreProperties>
</file>