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16352" cy="6858000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16352" y="0"/>
            <a:ext cx="146304" cy="685800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1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0" y="960120"/>
            <a:ext cx="6355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海岳大模型：赋能数字企业智能化跃迁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511296" y="2542032"/>
            <a:ext cx="6144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客户中层汇报方案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11296" y="324612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客户业务痛点为起点，系统阐述海岳大模型的技术先进性、场景适配性与落地可行性；聚焦中层管理者关注的可集成、可度量、可管控三大诉求，通过架构可信、能力扎实、案例真实、路径清晰的逻辑闭环，建立技术信任与行动共识。</a:t>
            </a:r>
            <a:endParaRPr lang="en-US" sz="1050" dirty="0"/>
          </a:p>
        </p:txBody>
      </p:sp>
      <p:pic>
        <p:nvPicPr>
          <p:cNvPr id="8" name="Image 0" descr="海岳大模型：赋能数字企业智能化跃迁 封面视觉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360" y="749808"/>
            <a:ext cx="4041648" cy="44988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11296" y="5230368"/>
            <a:ext cx="1987296" cy="841248"/>
          </a:xfrm>
          <a:prstGeom prst="rect">
            <a:avLst>
              <a:gd name="adj" fmla="val 8696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75888" y="5413248"/>
            <a:ext cx="165811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694176" y="5751942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页面数量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3694176" y="5894954"/>
            <a:ext cx="1621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5626608" y="5230368"/>
            <a:ext cx="1987296" cy="841248"/>
          </a:xfrm>
          <a:prstGeom prst="rect">
            <a:avLst>
              <a:gd name="adj" fmla="val 869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91200" y="5413248"/>
            <a:ext cx="165811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809488" y="5751942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视觉系统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5809488" y="5894954"/>
            <a:ext cx="1621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Haiyue Corporate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7741920" y="5230368"/>
            <a:ext cx="1987296" cy="841248"/>
          </a:xfrm>
          <a:prstGeom prst="rect">
            <a:avLst>
              <a:gd name="adj" fmla="val 869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906512" y="5413248"/>
            <a:ext cx="165811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924800" y="5751942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布局类型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7924800" y="5894954"/>
            <a:ext cx="1621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48640" y="608990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客户中层  |  企业咨询汇报  |  专业、清晰、有说服力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01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封面：智启新程，岳立潮头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建立品牌认知与汇报基调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73152" cy="1298448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82496"/>
            <a:ext cx="50017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海岳大模型是浪潮数字企业面向政企客户的全栈AI底座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952" y="3200400"/>
            <a:ext cx="48920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浪潮数字企业自主研发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面向中台化、服务化、智能化演进需求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已通过国家网信办生成式AI备案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882896"/>
            <a:ext cx="2519172" cy="1078992"/>
          </a:xfrm>
          <a:prstGeom prst="rect">
            <a:avLst>
              <a:gd name="adj" fmla="val 6780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5065776"/>
            <a:ext cx="2189988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5551871"/>
            <a:ext cx="21534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77240" y="5735300"/>
            <a:ext cx="2153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241548" y="4882896"/>
            <a:ext cx="2519172" cy="1078992"/>
          </a:xfrm>
          <a:prstGeom prst="rect">
            <a:avLst>
              <a:gd name="adj" fmla="val 6780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06140" y="5065776"/>
            <a:ext cx="2189988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24428" y="5551871"/>
            <a:ext cx="21534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页面定位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424428" y="5735300"/>
            <a:ext cx="2153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结构页</a:t>
            </a:r>
            <a:endParaRPr lang="en-US" sz="720" dirty="0"/>
          </a:p>
        </p:txBody>
      </p:sp>
      <p:pic>
        <p:nvPicPr>
          <p:cNvPr id="18" name="Image 0" descr="海岳大模型品牌视觉符号：山岳与数据流融合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0760" y="1618488"/>
            <a:ext cx="5440680" cy="43159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居中竖排标题+副标；右下角嵌入浪潮Logo与‘海岳HaiYue’英文标识；背景为极浅蓝灰渐变（F8FAFF→FFFFFF）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目录：四维驱动，价值闭环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结构化呈现汇报逻辑，降低认知负荷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5193792" cy="4526280"/>
          </a:xfrm>
          <a:prstGeom prst="rect">
            <a:avLst>
              <a:gd name="adj" fmla="val 161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883664"/>
            <a:ext cx="73152" cy="749808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01952"/>
            <a:ext cx="4453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从问题出发，经方案、实践到协同，形成可验证的价值闭环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2871216"/>
            <a:ext cx="4370832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现状之困：业务智能化卡点在哪？</a:t>
            </a:r>
            <a:endParaRPr lang="en-US" sz="1320" dirty="0"/>
          </a:p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海岳之能：为什么是可靠的选择？</a:t>
            </a:r>
            <a:endParaRPr lang="en-US" sz="1320" dirty="0"/>
          </a:p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落地之径：如何快速嵌入您的工作流？</a:t>
            </a:r>
            <a:endParaRPr lang="en-US" sz="1320" dirty="0"/>
          </a:p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共建之策：浪潮如何持续支撑您？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941832" y="5157216"/>
            <a:ext cx="2176272" cy="731520"/>
          </a:xfrm>
          <a:prstGeom prst="rect">
            <a:avLst>
              <a:gd name="adj" fmla="val 10000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06424" y="5340096"/>
            <a:ext cx="184708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24712" y="561075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124712" y="5735117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246120" y="5157216"/>
            <a:ext cx="2176272" cy="731520"/>
          </a:xfrm>
          <a:prstGeom prst="rect">
            <a:avLst>
              <a:gd name="adj" fmla="val 10000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10712" y="5340096"/>
            <a:ext cx="184708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29000" y="561075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页面定位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429000" y="5735117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结构页</a:t>
            </a:r>
            <a:endParaRPr lang="en-US" sz="720" dirty="0"/>
          </a:p>
        </p:txBody>
      </p:sp>
      <p:pic>
        <p:nvPicPr>
          <p:cNvPr id="19" name="Image 0" descr="目录四维图标：问题、能力、路径、协同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3328" y="1572768"/>
            <a:ext cx="5541264" cy="239572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053328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81344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81344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现状之困：业务智能化卡点在哪？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7338060" y="5148072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66076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594092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7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594092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海岳之能：为什么是可靠的选择？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8750808" y="5148072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878824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006840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006840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落地之径：如何快速嵌入您的工作流？</a:t>
            </a:r>
            <a:endParaRPr lang="en-US" sz="1220" dirty="0"/>
          </a:p>
        </p:txBody>
      </p:sp>
      <p:sp>
        <p:nvSpPr>
          <p:cNvPr id="31" name="Shape 28"/>
          <p:cNvSpPr/>
          <p:nvPr/>
        </p:nvSpPr>
        <p:spPr>
          <a:xfrm>
            <a:off x="10163556" y="5148072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291572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0419588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7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419588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共建之策：浪潮如何持续支撑您？</a:t>
            </a:r>
            <a:endParaRPr lang="en-US" sz="1220" dirty="0"/>
          </a:p>
        </p:txBody>
      </p:sp>
      <p:sp>
        <p:nvSpPr>
          <p:cNvPr id="35" name="Text 32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左侧竖排编号01–04（primary色），右侧对应四句短标题；每项含1个微图标（齿轮/芯片/路径/握手），图标色统一为primary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现状之困：中层管理者的三大断点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引发共鸣，锚定客户真实痛点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73152" cy="658368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91056"/>
            <a:ext cx="5413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数据孤岛、工具割裂、AI应用碎片化，制约决策响应与执行穿透力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5335524" cy="1298448"/>
          </a:xfrm>
          <a:prstGeom prst="rect">
            <a:avLst>
              <a:gd name="adj" fmla="val 5634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44168" y="2688336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跨系统数据难打通，报表生成平均耗时3.2小时/周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344168" y="3447288"/>
            <a:ext cx="4311396" cy="0"/>
          </a:xfrm>
          <a:prstGeom prst="line">
            <a:avLst/>
          </a:prstGeom>
          <a:noFill/>
          <a:ln w="13970">
            <a:solidFill>
              <a:srgbClr val="00A0A0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9068" y="2487168"/>
            <a:ext cx="5335524" cy="1298448"/>
          </a:xfrm>
          <a:prstGeom prst="rect">
            <a:avLst>
              <a:gd name="adj" fmla="val 563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0236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08876" y="2688336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现有AI工具无法对接OA/ERP等核心业务系统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7008876" y="3447288"/>
            <a:ext cx="4311396" cy="0"/>
          </a:xfrm>
          <a:prstGeom prst="line">
            <a:avLst/>
          </a:prstGeom>
          <a:noFill/>
          <a:ln w="13970">
            <a:solidFill>
              <a:srgbClr val="1D78FA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005072"/>
            <a:ext cx="5335524" cy="1298448"/>
          </a:xfrm>
          <a:prstGeom prst="rect">
            <a:avLst>
              <a:gd name="adj" fmla="val 563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" y="4187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44168" y="4206240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一线员工AI使用率不足17%，缺乏场景化引导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344168" y="4965192"/>
            <a:ext cx="4311396" cy="0"/>
          </a:xfrm>
          <a:prstGeom prst="line">
            <a:avLst/>
          </a:prstGeom>
          <a:noFill/>
          <a:ln w="13970">
            <a:solidFill>
              <a:srgbClr val="1D78FA">
                <a:alpha val="80000"/>
              </a:srgbClr>
            </a:solidFill>
            <a:prstDash val="solid"/>
          </a:ln>
        </p:spPr>
      </p:sp>
      <p:pic>
        <p:nvPicPr>
          <p:cNvPr id="21" name="Image 0" descr="中层管理三大断点量化数据图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5320" y="1554480"/>
            <a:ext cx="3310128" cy="19202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275320" y="3694176"/>
            <a:ext cx="1018032" cy="1828800"/>
          </a:xfrm>
          <a:prstGeom prst="rect">
            <a:avLst>
              <a:gd name="adj" fmla="val 7186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39912" y="3877056"/>
            <a:ext cx="688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3.2h/周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8458200" y="4828032"/>
            <a:ext cx="65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报表耗时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8458200" y="5138928"/>
            <a:ext cx="65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某省政务平台抽样统计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9421368" y="3694176"/>
            <a:ext cx="1018032" cy="1828800"/>
          </a:xfrm>
          <a:prstGeom prst="rect">
            <a:avLst>
              <a:gd name="adj" fmla="val 718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585960" y="3877056"/>
            <a:ext cx="688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&lt;12%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9604248" y="4828032"/>
            <a:ext cx="65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系统对接率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9604248" y="5138928"/>
            <a:ext cx="65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主流AI工具与ERP/OA兼容率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10567416" y="3694176"/>
            <a:ext cx="1018032" cy="1828800"/>
          </a:xfrm>
          <a:prstGeom prst="rect">
            <a:avLst>
              <a:gd name="adj" fmla="val 718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732008" y="3877056"/>
            <a:ext cx="688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17%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10750296" y="4828032"/>
            <a:ext cx="65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员工使用率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10750296" y="5138928"/>
            <a:ext cx="65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制造业客户AI助手月活占比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三列并置「断点卡片」，每张卡片含1个红色警示图标（⚠️）+痛点短句+量化数据标签；卡片底色为surface（F8FAFF），边框1px solid muted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海岳之能：全栈可控的AI原生引擎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建立技术信任，突出差异化优势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73152" cy="658368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91056"/>
            <a:ext cx="7333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唯一支持私有化部署+行业知识蒸馏+低代码编排的国产大模型底座</a:t>
            </a:r>
            <a:endParaRPr lang="en-US" sz="1500" dirty="0"/>
          </a:p>
        </p:txBody>
      </p:sp>
      <p:pic>
        <p:nvPicPr>
          <p:cNvPr id="9" name="Image 0" descr="海岳大模型三层架构示意图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0" y="1499616"/>
            <a:ext cx="2907792" cy="1627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2706624"/>
            <a:ext cx="5436108" cy="768096"/>
          </a:xfrm>
          <a:prstGeom prst="rect">
            <a:avLst>
              <a:gd name="adj" fmla="val 9524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3816" y="2962656"/>
            <a:ext cx="4997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基础模型层：100B+参数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58484" y="2706624"/>
            <a:ext cx="5436108" cy="768096"/>
          </a:xfrm>
          <a:prstGeom prst="rect">
            <a:avLst>
              <a:gd name="adj" fmla="val 952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77940" y="2962656"/>
            <a:ext cx="4997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行业增强层：政务/制造/能源知识蒸馏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3602736"/>
            <a:ext cx="5436108" cy="768096"/>
          </a:xfrm>
          <a:prstGeom prst="rect">
            <a:avLst>
              <a:gd name="adj" fmla="val 952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3816" y="3858768"/>
            <a:ext cx="4997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应用编排层：Prompt Studio + Ag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58484" y="3602736"/>
            <a:ext cx="5436108" cy="768096"/>
          </a:xfrm>
          <a:prstGeom prst="rect">
            <a:avLst>
              <a:gd name="adj" fmla="val 952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77940" y="3858768"/>
            <a:ext cx="4997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国产芯片适配率：100%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4736592"/>
            <a:ext cx="681228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100B+参数规模，中文理解与生成能力达行业SOTA</a:t>
            </a:r>
            <a:endParaRPr lang="en-US" sz="1150" dirty="0"/>
          </a:p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支持GPU/CPU混合推理，国产芯片适配率达100%</a:t>
            </a:r>
            <a:endParaRPr lang="en-US" sz="1150" dirty="0"/>
          </a:p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提供Prompt Studio与Agent Flow双低代码平台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406640" y="4645152"/>
            <a:ext cx="2029968" cy="1207008"/>
          </a:xfrm>
          <a:prstGeom prst="rect">
            <a:avLst>
              <a:gd name="adj" fmla="val 6061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571232" y="4828032"/>
            <a:ext cx="1700784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589520" y="5393497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7589520" y="55986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9564624" y="4645152"/>
            <a:ext cx="2029968" cy="1207008"/>
          </a:xfrm>
          <a:prstGeom prst="rect">
            <a:avLst>
              <a:gd name="adj" fmla="val 6061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729216" y="4828032"/>
            <a:ext cx="1700784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9747504" y="5393497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页面定位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9747504" y="55986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结构页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中心架构图：三层同心圆（基础模型层→行业增强层→应用编排层），每层标注核心能力关键词；外圈环绕3个盾牌图标（安全/可控/合规）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能力矩阵：不止于对话，更懂您的业务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具象化能力，消除‘大模型=聊天工具’误解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73152" cy="658368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91056"/>
            <a:ext cx="5413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覆盖知识管理、流程自动化、智能决策三大业务域的12类开箱即用能力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5335524" cy="1298448"/>
          </a:xfrm>
          <a:prstGeom prst="rect">
            <a:avLst>
              <a:gd name="adj" fmla="val 5634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44168" y="2688336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知识中枢：自动构建部门知识图谱，检索准确率提升68%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344168" y="3447288"/>
            <a:ext cx="4311396" cy="0"/>
          </a:xfrm>
          <a:prstGeom prst="line">
            <a:avLst/>
          </a:prstGeom>
          <a:noFill/>
          <a:ln w="13970">
            <a:solidFill>
              <a:srgbClr val="00A0A0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9068" y="2487168"/>
            <a:ext cx="5335524" cy="1298448"/>
          </a:xfrm>
          <a:prstGeom prst="rect">
            <a:avLst>
              <a:gd name="adj" fmla="val 563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0236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08876" y="2688336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流程智控：RPA+LLM联合调度，审批链路压缩42%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7008876" y="3447288"/>
            <a:ext cx="4311396" cy="0"/>
          </a:xfrm>
          <a:prstGeom prst="line">
            <a:avLst/>
          </a:prstGeom>
          <a:noFill/>
          <a:ln w="13970">
            <a:solidFill>
              <a:srgbClr val="1D78FA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005072"/>
            <a:ext cx="5335524" cy="1298448"/>
          </a:xfrm>
          <a:prstGeom prst="rect">
            <a:avLst>
              <a:gd name="adj" fmla="val 563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" y="4187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44168" y="4206240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决策沙盘：多源数据融合分析，预测偏差&lt;8.3%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344168" y="4965192"/>
            <a:ext cx="4311396" cy="0"/>
          </a:xfrm>
          <a:prstGeom prst="line">
            <a:avLst/>
          </a:prstGeom>
          <a:noFill/>
          <a:ln w="13970">
            <a:solidFill>
              <a:srgbClr val="1D78FA">
                <a:alpha val="80000"/>
              </a:srgbClr>
            </a:solidFill>
            <a:prstDash val="solid"/>
          </a:ln>
        </p:spPr>
      </p:sp>
      <p:pic>
        <p:nvPicPr>
          <p:cNvPr id="21" name="Image 0" descr="海岳大模型12类能力矩阵图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5320" y="1554480"/>
            <a:ext cx="3310128" cy="19202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275320" y="3694176"/>
            <a:ext cx="1018032" cy="1828800"/>
          </a:xfrm>
          <a:prstGeom prst="rect">
            <a:avLst>
              <a:gd name="adj" fmla="val 7186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39912" y="3877056"/>
            <a:ext cx="688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+68%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8458200" y="4828032"/>
            <a:ext cx="65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知识检索准确率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8458200" y="5138928"/>
            <a:ext cx="65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对比传统关键词检索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9421368" y="3694176"/>
            <a:ext cx="1018032" cy="1828800"/>
          </a:xfrm>
          <a:prstGeom prst="rect">
            <a:avLst>
              <a:gd name="adj" fmla="val 718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585960" y="3877056"/>
            <a:ext cx="688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9604248" y="4828032"/>
            <a:ext cx="65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审批链路压缩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9604248" y="5138928"/>
            <a:ext cx="65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某市监局工单处理实测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10567416" y="3694176"/>
            <a:ext cx="1018032" cy="1828800"/>
          </a:xfrm>
          <a:prstGeom prst="rect">
            <a:avLst>
              <a:gd name="adj" fmla="val 718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732008" y="3877056"/>
            <a:ext cx="688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&lt;8.3%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10750296" y="4828032"/>
            <a:ext cx="65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预测偏差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10750296" y="5138928"/>
            <a:ext cx="65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供应链需求预测模型误差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3×4网格能力矩阵，每格含图标+能力名+效果短语；主色调primary+accent组合，图标统一线性风格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落地之径：三步走，零负担接入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降低行动门槛，强化可实施性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73152" cy="658368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91056"/>
            <a:ext cx="7333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评估→试点→推广，每个阶段交付明确成果与责任界面</a:t>
            </a:r>
            <a:endParaRPr lang="en-US" sz="1500" dirty="0"/>
          </a:p>
        </p:txBody>
      </p:sp>
      <p:pic>
        <p:nvPicPr>
          <p:cNvPr id="9" name="Image 0" descr="海岳大模型三步落地路径图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0" y="1499616"/>
            <a:ext cx="2907792" cy="1627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22376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22376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评估诊断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2688336" y="3538728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16352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944368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7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944368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POC验证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4910328" y="3538728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38344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166360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166360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规模化推广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132320" y="3538728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260336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388352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7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388352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阶段1（2周）：业务场景诊断+POC环境部署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9354312" y="3538728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482328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610344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610344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阶段2（4周）：1个高频场景上线（如智能公文生成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685800" y="4736592"/>
            <a:ext cx="681228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阶段1（2周）：业务场景诊断+POC环境部署</a:t>
            </a:r>
            <a:endParaRPr lang="en-US" sz="1150" dirty="0"/>
          </a:p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阶段2（4周）：1个高频场景上线（如智能公文生成）</a:t>
            </a:r>
            <a:endParaRPr lang="en-US" sz="1150" dirty="0"/>
          </a:p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阶段3（8周）：3个系统对接+部门级推广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406640" y="4645152"/>
            <a:ext cx="2029968" cy="1207008"/>
          </a:xfrm>
          <a:prstGeom prst="rect">
            <a:avLst>
              <a:gd name="adj" fmla="val 6061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571232" y="4828032"/>
            <a:ext cx="1700784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7589520" y="5393497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7589520" y="55986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9564624" y="4645152"/>
            <a:ext cx="2029968" cy="1207008"/>
          </a:xfrm>
          <a:prstGeom prst="rect">
            <a:avLst>
              <a:gd name="adj" fmla="val 6061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9729216" y="4828032"/>
            <a:ext cx="1700784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P6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9747504" y="5393497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页面定位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9747504" y="55986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结构页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横向三段式时间轴，每段含阶段编号、周期、交付物图标与文字；箭头连接，箭头色secondary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实践印证：已在5类政企场景稳定运行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用真实案例增强说服力与代入感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5193792" cy="4526280"/>
          </a:xfrm>
          <a:prstGeom prst="rect">
            <a:avLst>
              <a:gd name="adj" fmla="val 161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883664"/>
            <a:ext cx="73152" cy="749808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01952"/>
            <a:ext cx="4453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非样板工程，而是经过生产环境压力验证的成熟能力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2871216"/>
            <a:ext cx="4370832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某省大数据局：政策文件智能解读，人工复核减少75%</a:t>
            </a:r>
            <a:endParaRPr lang="en-US" sz="1320" dirty="0"/>
          </a:p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某央企制造集团：设备维修报告自动生成，撰写效率提升5倍</a:t>
            </a:r>
            <a:endParaRPr lang="en-US" sz="1320" dirty="0"/>
          </a:p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某市医保中心：参保咨询应答准确率98.2%，坐席压力下降31%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941832" y="5157216"/>
            <a:ext cx="2176272" cy="731520"/>
          </a:xfrm>
          <a:prstGeom prst="rect">
            <a:avLst>
              <a:gd name="adj" fmla="val 10000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06424" y="5340096"/>
            <a:ext cx="184708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24712" y="561075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人工复核减少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124712" y="5735117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政策解读场景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246120" y="5157216"/>
            <a:ext cx="2176272" cy="731520"/>
          </a:xfrm>
          <a:prstGeom prst="rect">
            <a:avLst>
              <a:gd name="adj" fmla="val 10000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10712" y="5340096"/>
            <a:ext cx="184708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29000" y="561075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撰写效率提升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429000" y="5735117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设备维修报告</a:t>
            </a:r>
            <a:endParaRPr lang="en-US" sz="720" dirty="0"/>
          </a:p>
        </p:txBody>
      </p:sp>
      <p:pic>
        <p:nvPicPr>
          <p:cNvPr id="19" name="Image 0" descr="海岳大模型已落地客户Logo墙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3328" y="1572768"/>
            <a:ext cx="5541264" cy="239572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053328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81344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81344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某省大数据局：政策文件智能解读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7338060" y="5148072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66076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594092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7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594092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某央企制造集团：设备维修报告自动生成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8750808" y="5148072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878824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006840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006840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某市医保中心：参保咨询应答准确率98.2%</a:t>
            </a:r>
            <a:endParaRPr lang="en-US" sz="1220" dirty="0"/>
          </a:p>
        </p:txBody>
      </p:sp>
      <p:sp>
        <p:nvSpPr>
          <p:cNvPr id="31" name="Shape 28"/>
          <p:cNvSpPr/>
          <p:nvPr/>
        </p:nvSpPr>
        <p:spPr>
          <a:xfrm>
            <a:off x="10163556" y="5148072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291572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0419588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7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419588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某省大数据局：政策文件智能解读</a:t>
            </a:r>
            <a:endParaRPr lang="en-US" sz="1220" dirty="0"/>
          </a:p>
        </p:txBody>
      </p:sp>
      <p:sp>
        <p:nvSpPr>
          <p:cNvPr id="35" name="Text 32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左右图文：左3个客户Logo（政务/制造/医疗），右3段精炼案例描述；Logo灰度处理，仅保留轮廓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08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共建之策：不止交付，更赋能力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传递长期伙伴关系，缓解采购顾虑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73152" cy="658368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91056"/>
            <a:ext cx="5413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提供专属AI运营团队+季度能力升级+联合创新实验室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5335524" cy="1298448"/>
          </a:xfrm>
          <a:prstGeom prst="rect">
            <a:avLst>
              <a:gd name="adj" fmla="val 5634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44168" y="2688336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专属客户成功经理全程跟进，SLA响应≤2小时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344168" y="3447288"/>
            <a:ext cx="4311396" cy="0"/>
          </a:xfrm>
          <a:prstGeom prst="line">
            <a:avLst/>
          </a:prstGeom>
          <a:noFill/>
          <a:ln w="13970">
            <a:solidFill>
              <a:srgbClr val="00A0A0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9068" y="2487168"/>
            <a:ext cx="5335524" cy="1298448"/>
          </a:xfrm>
          <a:prstGeom prst="rect">
            <a:avLst>
              <a:gd name="adj" fmla="val 563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0236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08876" y="2688336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每季度发布行业微调模型包（政务/金融/能源）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7008876" y="3447288"/>
            <a:ext cx="4311396" cy="0"/>
          </a:xfrm>
          <a:prstGeom prst="line">
            <a:avLst/>
          </a:prstGeom>
          <a:noFill/>
          <a:ln w="13970">
            <a:solidFill>
              <a:srgbClr val="1D78FA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005072"/>
            <a:ext cx="5335524" cy="1298448"/>
          </a:xfrm>
          <a:prstGeom prst="rect">
            <a:avLst>
              <a:gd name="adj" fmla="val 5634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" y="4187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44168" y="4206240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共建AI应用创新实验室，共享浪潮算力与数据治理经验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344168" y="4965192"/>
            <a:ext cx="4311396" cy="0"/>
          </a:xfrm>
          <a:prstGeom prst="line">
            <a:avLst/>
          </a:prstGeom>
          <a:noFill/>
          <a:ln w="13970">
            <a:solidFill>
              <a:srgbClr val="1D78FA">
                <a:alpha val="80000"/>
              </a:srgbClr>
            </a:solidFill>
            <a:prstDash val="solid"/>
          </a:ln>
        </p:spPr>
      </p:sp>
      <p:pic>
        <p:nvPicPr>
          <p:cNvPr id="21" name="Image 0" descr="海岳大模型客户共建服务三支柱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5320" y="1554480"/>
            <a:ext cx="3310128" cy="19202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275320" y="3694176"/>
            <a:ext cx="1018032" cy="1828800"/>
          </a:xfrm>
          <a:prstGeom prst="rect">
            <a:avLst>
              <a:gd name="adj" fmla="val 7186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39912" y="3877056"/>
            <a:ext cx="688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≤2h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8458200" y="4828032"/>
            <a:ext cx="65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SLA响应时效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8458200" y="5138928"/>
            <a:ext cx="65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工作日紧急事件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9421368" y="3694176"/>
            <a:ext cx="1018032" cy="1828800"/>
          </a:xfrm>
          <a:prstGeom prst="rect">
            <a:avLst>
              <a:gd name="adj" fmla="val 718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585960" y="3877056"/>
            <a:ext cx="688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Q1/Q2/Q3/Q4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9604248" y="4828032"/>
            <a:ext cx="65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模型更新频次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9604248" y="5138928"/>
            <a:ext cx="65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行业微调模型包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10567416" y="3694176"/>
            <a:ext cx="1018032" cy="1828800"/>
          </a:xfrm>
          <a:prstGeom prst="rect">
            <a:avLst>
              <a:gd name="adj" fmla="val 7186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732008" y="3877056"/>
            <a:ext cx="688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1+N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10750296" y="4828032"/>
            <a:ext cx="652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联合实验室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10750296" y="5138928"/>
            <a:ext cx="652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1个主实验室+N个行业分站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三组并列「服务卡」：顶部图标（人形/日历/建筑）+服务名称+一句话承诺；卡片底色surface，图标色accent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48CE"/>
          </a:solidFill>
          <a:ln w="12700">
            <a:solidFill>
              <a:srgbClr val="0D48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00A0A0"/>
          </a:solidFill>
          <a:ln w="12700">
            <a:solidFill>
              <a:srgbClr val="00A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48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浪潮数字企业 · 09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结语：让AI真正长在您的业务土壤里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收束价值，激发行动意愿</a:t>
            </a:r>
            <a:endParaRPr lang="en-US" sz="950" dirty="0"/>
          </a:p>
        </p:txBody>
      </p:sp>
      <p:pic>
        <p:nvPicPr>
          <p:cNvPr id="7" name="Image 0" descr="浪潮品牌浪花纹样收尾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554480"/>
            <a:ext cx="3913632" cy="32735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755648"/>
            <a:ext cx="6446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海岳不是替代人力的黑盒，而是放大组织智慧的智能协作者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94360" y="3611880"/>
            <a:ext cx="2090928" cy="1024128"/>
          </a:xfrm>
          <a:prstGeom prst="rect">
            <a:avLst>
              <a:gd name="adj" fmla="val 7143"/>
            </a:avLst>
          </a:prstGeom>
          <a:solidFill>
            <a:srgbClr val="FFF8EC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2376" y="3758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2376" y="4105656"/>
            <a:ext cx="1834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形成共识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2667000" y="4123944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795016" y="3611880"/>
            <a:ext cx="2090928" cy="1024128"/>
          </a:xfrm>
          <a:prstGeom prst="rect">
            <a:avLst>
              <a:gd name="adj" fmla="val 7143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923032" y="3758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7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923032" y="4105656"/>
            <a:ext cx="1834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确认路径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4867656" y="4123944"/>
            <a:ext cx="146304" cy="0"/>
          </a:xfrm>
          <a:prstGeom prst="line">
            <a:avLst/>
          </a:prstGeom>
          <a:noFill/>
          <a:ln w="17780">
            <a:solidFill>
              <a:srgbClr val="0D48CE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995672" y="3611880"/>
            <a:ext cx="2090928" cy="1024128"/>
          </a:xfrm>
          <a:prstGeom prst="rect">
            <a:avLst>
              <a:gd name="adj" fmla="val 7143"/>
            </a:avLst>
          </a:prstGeom>
          <a:solidFill>
            <a:srgbClr val="F8FAFF"/>
          </a:solidFill>
          <a:ln w="12700">
            <a:solidFill>
              <a:srgbClr val="0D48CE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23688" y="3758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4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123688" y="4105656"/>
            <a:ext cx="1834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启动行动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704088" y="5102352"/>
            <a:ext cx="10789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0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即日起开放首批20个客户深度体验名额</a:t>
            </a:r>
            <a:endParaRPr lang="en-US" sz="1050" dirty="0"/>
          </a:p>
          <a:p>
            <a:pPr>
              <a:spcAft>
                <a:spcPts val="700"/>
              </a:spcAft>
            </a:pPr>
            <a:r>
              <a:rPr lang="en-US" sz="10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提供免费业务场景适配评估报告</a:t>
            </a:r>
            <a:endParaRPr lang="en-US" sz="1050" dirty="0"/>
          </a:p>
          <a:p>
            <a:pPr>
              <a:spcAft>
                <a:spcPts val="700"/>
              </a:spcAft>
            </a:pPr>
            <a:r>
              <a:rPr lang="en-US" sz="1050" dirty="0">
                <a:solidFill>
                  <a:srgbClr val="2E3A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签署意向后3个工作日内启动POC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C7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居中主标语+三行行动号召；底部横贯浪花纹样（简化版浪潮Logo抽象纹），色值primary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浪潮数字企业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海岳大模型：赋能数字企业智能化跃迁</dc:title>
  <dc:subject>海岳大模型</dc:subject>
  <dc:creator>PPT Skill Workspace</dc:creator>
  <cp:lastModifiedBy>PPT Skill Workspace</cp:lastModifiedBy>
  <cp:revision>1</cp:revision>
  <dcterms:created xsi:type="dcterms:W3CDTF">2026-06-17T09:52:54Z</dcterms:created>
  <dcterms:modified xsi:type="dcterms:W3CDTF">2026-06-17T09:52:54Z</dcterms:modified>
</cp:coreProperties>
</file>